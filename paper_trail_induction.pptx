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Top-ranked passage score per sample question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Top-1 cosine similarity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RAG
components</c:v>
                  </c:pt>
                  <c:pt idx="1">
                    <c:v>Encoder
sub-layers</c:v>
                  </c:pt>
                  <c:pt idx="2">
                    <c:v>Positional
encoding</c:v>
                  </c:pt>
                  <c:pt idx="3">
                    <c:v>Multi-head
attention</c:v>
                  </c:pt>
                  <c:pt idx="4">
                    <c:v>Few-shot
learning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0.13</c:v>
                </c:pt>
                <c:pt idx="1">
                  <c:v>0.31</c:v>
                </c:pt>
                <c:pt idx="2">
                  <c:v>0.29</c:v>
                </c:pt>
                <c:pt idx="3">
                  <c:v>0.34</c:v>
                </c:pt>
                <c:pt idx="4">
                  <c:v>0.29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9525" cap="flat">
              <a:solidFill>
                <a:srgbClr val="E4E8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47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478"/>
                    </a:solidFill>
                    <a:latin typeface="Arial"/>
                  </a:rPr>
                  <a:t>cosine similarity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PLACEMENT PROJECT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Trail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QA System over Three Foundational AI Papers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2735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24028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All You Need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615184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214884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2735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62272" y="224028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2615184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046720" y="2148840"/>
            <a:ext cx="3520440" cy="777240"/>
          </a:xfrm>
          <a:prstGeom prst="roundRect">
            <a:avLst>
              <a:gd name="adj" fmla="val 9412"/>
            </a:avLst>
          </a:prstGeom>
          <a:solidFill>
            <a:srgbClr val="27358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11312" y="2240280"/>
            <a:ext cx="3191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are Few-Shot Learners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11312" y="2615184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429000"/>
            <a:ext cx="777240" cy="777240"/>
          </a:xfrm>
          <a:prstGeom prst="ellipse">
            <a:avLst/>
          </a:prstGeom>
          <a:solidFill>
            <a:srgbClr val="3B4A9E"/>
          </a:solidFill>
          <a:ln w="15875">
            <a:solidFill>
              <a:srgbClr val="CADCFC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3598164"/>
            <a:ext cx="438912" cy="43891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207008" y="331927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82880" y="43159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0" y="46085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· chunk · tag metadata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1463040" y="3799332"/>
            <a:ext cx="17373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200400" y="3429000"/>
            <a:ext cx="777240" cy="777240"/>
          </a:xfrm>
          <a:prstGeom prst="ellipse">
            <a:avLst/>
          </a:prstGeom>
          <a:solidFill>
            <a:srgbClr val="3B4A9E"/>
          </a:solidFill>
          <a:ln w="15875">
            <a:solidFill>
              <a:srgbClr val="CADCFC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564" y="3598164"/>
            <a:ext cx="438912" cy="43891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3721608" y="331927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2697480" y="43159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2514600" y="46085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cosine similarity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977640" y="3799332"/>
            <a:ext cx="17373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5715000" y="3429000"/>
            <a:ext cx="777240" cy="777240"/>
          </a:xfrm>
          <a:prstGeom prst="ellipse">
            <a:avLst/>
          </a:prstGeom>
          <a:solidFill>
            <a:srgbClr val="3B4A9E"/>
          </a:solidFill>
          <a:ln w="15875">
            <a:solidFill>
              <a:srgbClr val="CADCFC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3598164"/>
            <a:ext cx="438912" cy="438912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236208" y="331927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5212080" y="43159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5029200" y="46085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GPT / Kimi / OpenRouter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492240" y="3799332"/>
            <a:ext cx="17373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8229600" y="3429000"/>
            <a:ext cx="777240" cy="777240"/>
          </a:xfrm>
          <a:prstGeom prst="ellipse">
            <a:avLst/>
          </a:prstGeom>
          <a:solidFill>
            <a:srgbClr val="3B4A9E"/>
          </a:solidFill>
          <a:ln w="15875">
            <a:solidFill>
              <a:srgbClr val="CADCFC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8764" y="3598164"/>
            <a:ext cx="438912" cy="438912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8750808" y="331927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7726680" y="43159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7543800" y="4608576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link to source text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548640" y="6080760"/>
            <a:ext cx="11091672" cy="0"/>
          </a:xfrm>
          <a:prstGeom prst="line">
            <a:avLst/>
          </a:prstGeom>
          <a:noFill/>
          <a:ln w="9525">
            <a:solidFill>
              <a:srgbClr val="3B4A9E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548640" y="619963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chunks across 3 papers   ·   ~130-word target chunk size   ·   top-8 retrieval   ·   3 interchangeable LLM providers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Analysis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sparse (TF-IDF) retrieval succeeds — and where it structurally can't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6492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417320"/>
            <a:ext cx="4325112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0" y="1536192"/>
            <a:ext cx="4325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8th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2450592"/>
            <a:ext cx="3685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of the correct passage for the few-shot question, when only the top-3 chunks are retrieved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315200" y="3520440"/>
            <a:ext cx="4325112" cy="2057400"/>
          </a:xfrm>
          <a:prstGeom prst="roundRect">
            <a:avLst>
              <a:gd name="adj" fmla="val 3556"/>
            </a:avLst>
          </a:prstGeom>
          <a:solidFill>
            <a:srgbClr val="F3F6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43800" y="3657600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3977640"/>
            <a:ext cx="38679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TF-IDF's IDF term rewards rarity. “Few-shot” appears in nearly every chunk of a paper titled Language Models are Few-Shot Learners — so the algorithm treats the paper's own central subject as low-signal. Mitigated here by retrieving top-8, not top-3.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chunks retrieved via cosine similarity over sklearn TfidfVectorizer(stop_words="english", ngram_range=(1,2))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 &amp; Limitations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trade-offs of a from-scratch sparse retriever, argued on purpose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385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9110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infrastructure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2194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on scikit-learn + Flask — no vector DB, no embedding API, no GPU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90088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9626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explainable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32461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similarity score is a hand-checkable dot product, not a black-box embedding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4164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40142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generation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1188720" y="42976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PROVIDERS registry — Claude, GPT, Kimi, or OpenRouter, swapped via one env var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093208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88720" y="50657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just built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1188720" y="53492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Flask integration tests + 15 provider tests catch real regressions before shipping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053328" y="1417320"/>
            <a:ext cx="0" cy="5029200"/>
          </a:xfrm>
          <a:prstGeom prst="line">
            <a:avLst/>
          </a:prstGeom>
          <a:noFill/>
          <a:ln w="12700">
            <a:solidFill>
              <a:srgbClr val="E4E8F2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35508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938528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95160" y="19110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paraphrase understanding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6995160" y="2194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worded differently from the paper's own vocabulary can score near zero</a:t>
            </a:r>
            <a:endParaRPr lang="en-US" sz="11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990088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995160" y="29626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re-ranking step</a:t>
            </a:r>
            <a:endParaRPr lang="en-US" sz="1350" dirty="0"/>
          </a:p>
        </p:txBody>
      </p:sp>
      <p:sp>
        <p:nvSpPr>
          <p:cNvPr id="24" name="Text 16"/>
          <p:cNvSpPr txBox="1"/>
          <p:nvPr/>
        </p:nvSpPr>
        <p:spPr>
          <a:xfrm>
            <a:off x="6995160" y="32461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similarity ranking is final — a correct chunk can sit at rank 8 instead of rank 1</a:t>
            </a:r>
            <a:endParaRPr lang="en-US" sz="11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4041648"/>
            <a:ext cx="457200" cy="4572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95160" y="40142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static corpus</a:t>
            </a:r>
            <a:endParaRPr lang="en-US" sz="1350" dirty="0"/>
          </a:p>
        </p:txBody>
      </p:sp>
      <p:sp>
        <p:nvSpPr>
          <p:cNvPr id="27" name="Text 18"/>
          <p:cNvSpPr txBox="1"/>
          <p:nvPr/>
        </p:nvSpPr>
        <p:spPr>
          <a:xfrm>
            <a:off x="6995160" y="42976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chunks / 3 papers only — adding papers means re-running preprocessing, not live ingestion</a:t>
            </a:r>
            <a:endParaRPr lang="en-US" sz="11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5093208"/>
            <a:ext cx="457200" cy="4572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995160" y="50657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conversational memory</a:t>
            </a:r>
            <a:endParaRPr lang="en-US" sz="1350" dirty="0"/>
          </a:p>
        </p:txBody>
      </p:sp>
      <p:sp>
        <p:nvSpPr>
          <p:cNvPr id="30" name="Text 20"/>
          <p:cNvSpPr txBox="1"/>
          <p:nvPr/>
        </p:nvSpPr>
        <p:spPr>
          <a:xfrm>
            <a:off x="6995160" y="53492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 is answered independently, with no follow-up context carried over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Production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earns the right to say about scaling it 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7358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3042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1671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dense embeddings alongside TF-IDF, plus a cross-encoder re-ranker, to fix the rank-8 problem found on slide 2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73580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488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3042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21671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9260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“eyeball 5 questions” with precision@k / recall@k against a labeled question set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73580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4348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5902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4531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2120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against prompt injection in retrieved text, add rate limiting and response caching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41605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273580"/>
          </a:solidFill>
          <a:ln/>
        </p:spPr>
      </p:sp>
      <p:sp>
        <p:nvSpPr>
          <p:cNvPr id="20" name="Shape 15"/>
          <p:cNvSpPr/>
          <p:nvPr/>
        </p:nvSpPr>
        <p:spPr>
          <a:xfrm>
            <a:off x="6537960" y="44348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5902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44531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path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537960" y="52120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from an in-memory TF-IDF matrix to FAISS / Chroma / pgvector once the corpus outgrows a few hundred chunks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explain every design decision — not just to make one work.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2026-09-18T05:13:30Z</dcterms:created>
  <dcterms:modified xsi:type="dcterms:W3CDTF">2026-09-18T05:13:30Z</dcterms:modified>
</cp:coreProperties>
</file>